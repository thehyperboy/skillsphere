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anrope ExtraLight"/>
      <p:regular r:id="rId201314"/>
    </p:embeddedFont>
    <p:embeddedFont>
      <p:font typeface="Manrope Light"/>
      <p:regular r:id="rId201315"/>
    </p:embeddedFont>
    <p:embeddedFont>
      <p:font typeface="Manrope"/>
      <p:regular r:id="rId201316"/>
    </p:embeddedFont>
    <p:embeddedFont>
      <p:font typeface="Manrope Medium"/>
      <p:regular r:id="rId201317"/>
    </p:embeddedFont>
    <p:embeddedFont>
      <p:font typeface="Manrope SemiBold"/>
      <p:regular r:id="rId201318"/>
    </p:embeddedFont>
    <p:embeddedFont>
      <p:font typeface="Manrope Bold"/>
      <p:regular r:id="rId201319"/>
    </p:embeddedFont>
    <p:embeddedFont>
      <p:font typeface="Manrope ExtraBold"/>
      <p:regular r:id="rId201320"/>
    </p:embeddedFont>
    <p:embeddedFont>
      <p:font typeface="Prata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SkillSphere – Learn Beyond Limits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Next-Generation Learning Management System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1498476" cy="215354"/>
          </a:xfrm>
          <a:prstGeom prst="roundRect">
            <a:avLst>
              <a:gd name="adj" fmla="val 7900"/>
            </a:avLst>
          </a:prstGeom>
          <a:solidFill>
            <a:srgbClr val="391F1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48992"/>
            <a:ext cx="17855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COLLEGE PROJECT ·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67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Problem with Traditional Learning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56010"/>
            <a:ext cx="4015606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626790" y="1186681"/>
            <a:ext cx="3754264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Less Interactive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6790" y="1467817"/>
            <a:ext cx="375426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Passive learning with minimal engagement or hands-on practice.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32201" y="1056010"/>
            <a:ext cx="4015680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4762872" y="1186681"/>
            <a:ext cx="3754338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Fragmented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62872" y="1467817"/>
            <a:ext cx="37543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Course materials, assignments, and grades scattered across systems.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120652"/>
            <a:ext cx="4015606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626790" y="2251323"/>
            <a:ext cx="3754264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No Centralized 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790" y="2532459"/>
            <a:ext cx="375426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and trainers lack a unified platform for collaboration.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32201" y="2120652"/>
            <a:ext cx="4015680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872" y="2251323"/>
            <a:ext cx="3754338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Poor Progress Tracking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62872" y="2532459"/>
            <a:ext cx="37543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real-time visibility into student performance or learning gaps.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185294"/>
            <a:ext cx="4015606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16" name="Text 14"/>
          <p:cNvSpPr/>
          <p:nvPr/>
        </p:nvSpPr>
        <p:spPr>
          <a:xfrm>
            <a:off x="626790" y="3315965"/>
            <a:ext cx="3754264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Limited Communication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790" y="3597101"/>
            <a:ext cx="375426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Weak channels for feedback, discussion, and peer interaction.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2201" y="3185294"/>
            <a:ext cx="4015680" cy="944166"/>
          </a:xfrm>
          <a:prstGeom prst="roundRect">
            <a:avLst>
              <a:gd name="adj" fmla="val 2076"/>
            </a:avLst>
          </a:prstGeom>
          <a:solidFill>
            <a:srgbClr val="404245"/>
          </a:solidFill>
          <a:ln/>
        </p:spPr>
      </p:sp>
      <p:sp>
        <p:nvSpPr>
          <p:cNvPr id="19" name="Text 17"/>
          <p:cNvSpPr/>
          <p:nvPr/>
        </p:nvSpPr>
        <p:spPr>
          <a:xfrm>
            <a:off x="4762872" y="3315965"/>
            <a:ext cx="3754338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✍️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Manual Evaluation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62872" y="3597101"/>
            <a:ext cx="37543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Time-consuming grading processes slow down feedback loops.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6119" y="4264968"/>
            <a:ext cx="14288" cy="471785"/>
          </a:xfrm>
          <a:prstGeom prst="roundRect">
            <a:avLst>
              <a:gd name="adj" fmla="val 59998"/>
            </a:avLst>
          </a:prstGeom>
          <a:solidFill>
            <a:srgbClr val="84482D"/>
          </a:solidFill>
          <a:ln/>
        </p:spPr>
      </p:sp>
      <p:sp>
        <p:nvSpPr>
          <p:cNvPr id="22" name="Text 20"/>
          <p:cNvSpPr/>
          <p:nvPr/>
        </p:nvSpPr>
        <p:spPr>
          <a:xfrm>
            <a:off x="692125" y="4400476"/>
            <a:ext cx="84129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"Education needs a smarter, more engaging digital ecosystem."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136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Introducing SkillSphere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787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centralized Learning Management System that seamlessly connects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students, trainers, and administrators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through one secure, intelligent platform — from registration to certification.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30971"/>
            <a:ext cx="8151763" cy="22348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78791" y="2738548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78791" y="3021850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your SkillSphere account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41353" y="2579742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Browse Courses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41353" y="3083608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Discover available learning paths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35284" y="2738548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Learn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35284" y="3021850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 with course materials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13530" y="2579742"/>
            <a:ext cx="1231849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Complete Quiz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13530" y="3083608"/>
            <a:ext cx="1231849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your understanding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32531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step is designed to be intuitive, trackable, and rewarding — turning learning into a structured, engaging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175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Features at a Glance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78768"/>
            <a:ext cx="239167" cy="239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44067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591419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Role-based JWT login for students, trainers, and admins.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029" y="978768"/>
            <a:ext cx="239167" cy="2391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5029" y="1344067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Multi-Role Dashboards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35029" y="1591419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Tailored interfaces for every user type.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969591"/>
            <a:ext cx="239167" cy="2391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334890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Video Learning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96119" y="2582242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 lessons with progress tracking.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029" y="1969591"/>
            <a:ext cx="239167" cy="2391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5029" y="2334890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Assignments &amp; Quizzes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35029" y="2582242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 work and take timed online assessments.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960415"/>
            <a:ext cx="239167" cy="2391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325713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Certificates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3573066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Auto-generated certificates on course completion.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029" y="2960415"/>
            <a:ext cx="239167" cy="23916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5029" y="3325713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Progress Analytics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635029" y="3573066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insights into performance and engagement.</a:t>
            </a:r>
            <a:endParaRPr lang="en-US" sz="9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951238"/>
            <a:ext cx="239167" cy="23916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4316537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496119" y="4563889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alerts for deadlines and updates.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35029" y="3951238"/>
            <a:ext cx="239167" cy="23916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35029" y="4316537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Leaderboard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4635029" y="4563889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Rank-based motivation for competitive learners.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702421"/>
            <a:ext cx="357314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end-to-end workflow provides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organized and engaging learning experience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while tracking every student's progress — from first login to final certification.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912343"/>
            <a:ext cx="3573140" cy="191319"/>
          </a:xfrm>
          <a:prstGeom prst="roundRect">
            <a:avLst>
              <a:gd name="adj" fmla="val 5558"/>
            </a:avLst>
          </a:prstGeom>
          <a:solidFill>
            <a:srgbClr val="5F34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3005584"/>
            <a:ext cx="88553" cy="70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356" y="2961903"/>
            <a:ext cx="372926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stage is logged, timestamped, and visible to both students and trainers in real time.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959" y="704255"/>
            <a:ext cx="4405610" cy="4405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using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scalable REST API architecture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 secure authentication and a fully responsive UI — designed for performance and growth.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232" y="2431852"/>
            <a:ext cx="1976958" cy="3919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1699" y="2512219"/>
            <a:ext cx="17781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4781699" y="2658368"/>
            <a:ext cx="17781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 · JavaScript · Tailwind CSS · Three.js · GSAP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5611" y="2431852"/>
            <a:ext cx="1977033" cy="3919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94078" y="2512219"/>
            <a:ext cx="17781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6794078" y="2658368"/>
            <a:ext cx="17781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 Spring Boot · Spring Security · JWT · Hibernate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3232" y="2859212"/>
            <a:ext cx="1976958" cy="3919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81699" y="2939579"/>
            <a:ext cx="17781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4781699" y="3085728"/>
            <a:ext cx="177812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MySQL — relational, scalable data storage</a:t>
            </a:r>
            <a:endParaRPr lang="en-US" sz="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5611" y="2859212"/>
            <a:ext cx="1977033" cy="3919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94078" y="2939579"/>
            <a:ext cx="177819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Dev Tools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6794078" y="3085728"/>
            <a:ext cx="177819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Maven · GitHub · Postman · Docker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clean, layered architecture ensures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separation of concerns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security, and scalability — from the user interface down to the database.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534" y="807021"/>
            <a:ext cx="5748933" cy="4435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3325" y="2661015"/>
            <a:ext cx="1002656" cy="6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Five-layer Architecture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49678" y="4260143"/>
            <a:ext cx="1491629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49678" y="4554622"/>
            <a:ext cx="1491629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endpoints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935739" y="2678209"/>
            <a:ext cx="1524235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MySQL Database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35739" y="3201955"/>
            <a:ext cx="1524235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persistence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63418" y="4145510"/>
            <a:ext cx="1491628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63418" y="4669255"/>
            <a:ext cx="1491628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05" y="2784691"/>
            <a:ext cx="1524235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05" y="3079170"/>
            <a:ext cx="1524235" cy="13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 UI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69865" y="1187473"/>
            <a:ext cx="153238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69865" y="1481952"/>
            <a:ext cx="1532387" cy="27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Students, Trainers, Admins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6119" y="528235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layer communicates through well-defined REST APIs, enabling independent scaling and future feature additions without disrupting the core system.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520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SkillSphere?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496119" y="791170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404245"/>
          </a:solidFill>
          <a:ln/>
        </p:spPr>
      </p:sp>
      <p:sp>
        <p:nvSpPr>
          <p:cNvPr id="5" name="Shape 2"/>
          <p:cNvSpPr/>
          <p:nvPr/>
        </p:nvSpPr>
        <p:spPr>
          <a:xfrm>
            <a:off x="591369" y="886420"/>
            <a:ext cx="285750" cy="285750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950" y="965002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369" y="1236166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Interactive Learning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1369" y="1423392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Engaging lessons, quizzes, and assignments keep learners motivated.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96119" y="1710035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404245"/>
          </a:solidFill>
          <a:ln/>
        </p:spPr>
      </p:sp>
      <p:sp>
        <p:nvSpPr>
          <p:cNvPr id="10" name="Shape 6"/>
          <p:cNvSpPr/>
          <p:nvPr/>
        </p:nvSpPr>
        <p:spPr>
          <a:xfrm>
            <a:off x="591369" y="1805285"/>
            <a:ext cx="285750" cy="285750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950" y="1883866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1369" y="2155031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 &amp; Role-Based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91369" y="2342257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JWT authentication with distinct access for every user type.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96119" y="2628900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404245"/>
          </a:solidFill>
          <a:ln/>
        </p:spPr>
      </p:sp>
      <p:sp>
        <p:nvSpPr>
          <p:cNvPr id="15" name="Shape 10"/>
          <p:cNvSpPr/>
          <p:nvPr/>
        </p:nvSpPr>
        <p:spPr>
          <a:xfrm>
            <a:off x="591369" y="2724150"/>
            <a:ext cx="285750" cy="285750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50" y="2802731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1369" y="3073896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Tracking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91369" y="3261122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dashboards show progress, scores, and completion rates.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96119" y="3547765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404245"/>
          </a:solidFill>
          <a:ln/>
        </p:spPr>
      </p:sp>
      <p:sp>
        <p:nvSpPr>
          <p:cNvPr id="20" name="Shape 14"/>
          <p:cNvSpPr/>
          <p:nvPr/>
        </p:nvSpPr>
        <p:spPr>
          <a:xfrm>
            <a:off x="591369" y="3643015"/>
            <a:ext cx="285750" cy="285750"/>
          </a:xfrm>
          <a:prstGeom prst="ellipse">
            <a:avLst/>
          </a:prstGeom>
          <a:solidFill>
            <a:srgbClr val="84482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950" y="3721596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1369" y="3992761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Architecture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91369" y="4179987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API backend built to grow with institutional needs.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496119" y="4474592"/>
            <a:ext cx="14288" cy="271314"/>
          </a:xfrm>
          <a:prstGeom prst="roundRect">
            <a:avLst>
              <a:gd name="adj" fmla="val 59998"/>
            </a:avLst>
          </a:prstGeom>
          <a:solidFill>
            <a:srgbClr val="84482D"/>
          </a:solidFill>
          <a:ln/>
        </p:spPr>
      </p:sp>
      <p:sp>
        <p:nvSpPr>
          <p:cNvPr id="25" name="Text 18"/>
          <p:cNvSpPr/>
          <p:nvPr/>
        </p:nvSpPr>
        <p:spPr>
          <a:xfrm>
            <a:off x="638994" y="4546550"/>
            <a:ext cx="503708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"One platform for students, trainers, and administrators."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63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Roadmap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848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SkillSphere is built to evolve. Here's what's on the horizon to make learning even more powerful and accessible.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62475" y="1434480"/>
            <a:ext cx="19050" cy="3310384"/>
          </a:xfrm>
          <a:prstGeom prst="roundRect">
            <a:avLst>
              <a:gd name="adj" fmla="val 106395"/>
            </a:avLst>
          </a:prstGeom>
          <a:solidFill>
            <a:srgbClr val="595B5E"/>
          </a:solidFill>
          <a:ln/>
        </p:spPr>
      </p:sp>
      <p:sp>
        <p:nvSpPr>
          <p:cNvPr id="5" name="Shape 3"/>
          <p:cNvSpPr/>
          <p:nvPr/>
        </p:nvSpPr>
        <p:spPr>
          <a:xfrm>
            <a:off x="4033726" y="1576908"/>
            <a:ext cx="405333" cy="19050"/>
          </a:xfrm>
          <a:prstGeom prst="roundRect">
            <a:avLst>
              <a:gd name="adj" fmla="val 106395"/>
            </a:avLst>
          </a:prstGeom>
          <a:solidFill>
            <a:srgbClr val="595B5E"/>
          </a:solidFill>
          <a:ln/>
        </p:spPr>
      </p:sp>
      <p:sp>
        <p:nvSpPr>
          <p:cNvPr id="6" name="Shape 4"/>
          <p:cNvSpPr/>
          <p:nvPr/>
        </p:nvSpPr>
        <p:spPr>
          <a:xfrm>
            <a:off x="4420009" y="1434480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4470648" y="145978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6119" y="148091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1769269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Application · Live Virtual Classes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4941" y="2374925"/>
            <a:ext cx="405333" cy="19050"/>
          </a:xfrm>
          <a:prstGeom prst="roundRect">
            <a:avLst>
              <a:gd name="adj" fmla="val 106395"/>
            </a:avLst>
          </a:prstGeom>
          <a:solidFill>
            <a:srgbClr val="595B5E"/>
          </a:solidFill>
          <a:ln/>
        </p:spPr>
      </p:sp>
      <p:sp>
        <p:nvSpPr>
          <p:cNvPr id="11" name="Shape 9"/>
          <p:cNvSpPr/>
          <p:nvPr/>
        </p:nvSpPr>
        <p:spPr>
          <a:xfrm>
            <a:off x="4420009" y="2232496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2" name="Text 10"/>
          <p:cNvSpPr/>
          <p:nvPr/>
        </p:nvSpPr>
        <p:spPr>
          <a:xfrm>
            <a:off x="4470648" y="225779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47605" y="227893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7605" y="256728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Discussion Forums · Gamification &amp; Achievement Badges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3726" y="3067348"/>
            <a:ext cx="405333" cy="19050"/>
          </a:xfrm>
          <a:prstGeom prst="roundRect">
            <a:avLst>
              <a:gd name="adj" fmla="val 106395"/>
            </a:avLst>
          </a:prstGeom>
          <a:solidFill>
            <a:srgbClr val="595B5E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0009" y="2924919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17" name="Text 15"/>
          <p:cNvSpPr/>
          <p:nvPr/>
        </p:nvSpPr>
        <p:spPr>
          <a:xfrm>
            <a:off x="4470648" y="2950220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6119" y="297135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3259708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 Deployment · College ERP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4941" y="3759845"/>
            <a:ext cx="405333" cy="19050"/>
          </a:xfrm>
          <a:prstGeom prst="roundRect">
            <a:avLst>
              <a:gd name="adj" fmla="val 106395"/>
            </a:avLst>
          </a:prstGeom>
          <a:solidFill>
            <a:srgbClr val="595B5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0009" y="3617416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</p:sp>
      <p:sp>
        <p:nvSpPr>
          <p:cNvPr id="22" name="Text 20"/>
          <p:cNvSpPr/>
          <p:nvPr/>
        </p:nvSpPr>
        <p:spPr>
          <a:xfrm>
            <a:off x="4470648" y="364271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47605" y="366385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Phase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7605" y="395220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Attendance Management · Advanced Learning Analytics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2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Benefits &amp; 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426815"/>
            <a:ext cx="4107135" cy="2945383"/>
          </a:xfrm>
          <a:prstGeom prst="roundRect">
            <a:avLst>
              <a:gd name="adj" fmla="val 722"/>
            </a:avLst>
          </a:prstGeom>
          <a:solidFill>
            <a:srgbClr val="84482D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6857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31789"/>
            <a:ext cx="3823618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Improved, interactive learning experience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student engagement and retention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Efficient, centralized course management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Secure, role-based platform architecture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 evaluation and feedback cycles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Streamlined administration for institutions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56857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 Summary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931789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SkillSphere transforms traditional education into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modern, interactive digital learning ecosystem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combining secure technology, an engaging user experience, and efficient academic management into one scalable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033936"/>
            <a:ext cx="3902943" cy="19050"/>
          </a:xfrm>
          <a:prstGeom prst="roundRect">
            <a:avLst>
              <a:gd name="adj" fmla="val 60000"/>
            </a:avLst>
          </a:prstGeom>
          <a:solidFill>
            <a:srgbClr val="BDA18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49701" y="324787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361109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welcome your questions and feedback.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9701" y="3997375"/>
            <a:ext cx="143477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8448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4756" y="4039865"/>
            <a:ext cx="17218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&amp; ANSWERS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2026-07-16T15:24:21Z</dcterms:created>
  <dcterms:modified xsi:type="dcterms:W3CDTF">2026-07-16T15:24:21Z</dcterms:modified>
</cp:coreProperties>
</file>